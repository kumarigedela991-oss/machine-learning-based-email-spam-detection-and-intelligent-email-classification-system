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Mona Sans SemiBold" pitchFamily="34" charset="0"/>
      <p:bold r:id="rId17"/>
    </p:embeddedFont>
    <p:embeddedFont>
      <p:font typeface="Mona Sans SemiBold" pitchFamily="34" charset="-122"/>
      <p:bold r:id="rId18"/>
    </p:embeddedFont>
    <p:embeddedFont>
      <p:font typeface="Mona Sans SemiBold" pitchFamily="34" charset="-120"/>
      <p:bold r:id="rId19"/>
    </p:embeddedFont>
    <p:embeddedFont>
      <p:font typeface="Funnel Sans" pitchFamily="34" charset="0"/>
      <p:regular r:id="rId20"/>
    </p:embeddedFont>
    <p:embeddedFont>
      <p:font typeface="Funnel Sans" pitchFamily="34" charset="-122"/>
      <p:regular r:id="rId21"/>
    </p:embeddedFont>
    <p:embeddedFont>
      <p:font typeface="Funnel Sans" pitchFamily="34" charset="-120"/>
      <p:regular r:id="rId22"/>
    </p:embeddedFont>
    <p:embeddedFont>
      <p:font typeface="Funnel Sans Bold" pitchFamily="34" charset="0"/>
      <p:bold r:id="rId23"/>
    </p:embeddedFont>
    <p:embeddedFont>
      <p:font typeface="Funnel Sans Bold" pitchFamily="34" charset="-122"/>
      <p:bold r:id="rId24"/>
    </p:embeddedFont>
    <p:embeddedFont>
      <p:font typeface="Funnel Sans Bold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59892"/>
            <a:ext cx="4722763" cy="1328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ML-Based Email Spam Detection &amp; Intelligent Classification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454"/>
            <a:ext cx="4722763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intelligent system leveraging Machine Learning and NLP to automatically classify emails, detect phishing threats, and continuously improve detection accuracy — securing communication at enterprise scale.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768179"/>
            <a:ext cx="1249859" cy="215354"/>
          </a:xfrm>
          <a:prstGeom prst="roundRect">
            <a:avLst>
              <a:gd name="adj" fmla="val 22119"/>
            </a:avLst>
          </a:prstGeom>
          <a:solidFill>
            <a:srgbClr val="E2E4E9"/>
          </a:solidFill>
        </p:spPr>
      </p:sp>
      <p:sp>
        <p:nvSpPr>
          <p:cNvPr id="6" name="Text 3"/>
          <p:cNvSpPr/>
          <p:nvPr/>
        </p:nvSpPr>
        <p:spPr>
          <a:xfrm>
            <a:off x="4010174" y="3810670"/>
            <a:ext cx="1536948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45819" y="3768179"/>
            <a:ext cx="38375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0875" y="3810670"/>
            <a:ext cx="67084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NLP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00415" y="3768179"/>
            <a:ext cx="104149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85470" y="3810670"/>
            <a:ext cx="132858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12" name="Text Box 11"/>
          <p:cNvSpPr txBox="1"/>
          <p:nvPr/>
        </p:nvSpPr>
        <p:spPr>
          <a:xfrm>
            <a:off x="3950335" y="4204335"/>
            <a:ext cx="3163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400" b="1"/>
              <a:t>G.KUMARI</a:t>
            </a:r>
            <a:endParaRPr lang="en-IN" altLang="en-US" sz="1400" b="1"/>
          </a:p>
          <a:p>
            <a:r>
              <a:rPr lang="en-IN" altLang="en-US" sz="1400" b="1"/>
              <a:t>323129510013</a:t>
            </a:r>
            <a:endParaRPr lang="en-IN" altLang="en-US" sz="1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025"/>
            <a:ext cx="4722763" cy="705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Growing Email Threat Landscape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2842" y="1393627"/>
            <a:ext cx="44873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Volume Overload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2842" y="1624087"/>
            <a:ext cx="44873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 333 billion emails sent daily — making manual filtering impossible and rule-based systems inadequate.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2842" y="2274243"/>
            <a:ext cx="44873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Evolving Threats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2842" y="2504703"/>
            <a:ext cx="44873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Spammers constantly adapt tactics, bypassing static filters with obfuscated content and social engineering.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2842" y="3154859"/>
            <a:ext cx="44873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Phishing &amp; Malware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2842" y="3385319"/>
            <a:ext cx="44873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Malicious links, credential theft, and ransomware payloads embedded in seemingly legitimate emails.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2842" y="4035475"/>
            <a:ext cx="44873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2842" y="4265935"/>
            <a:ext cx="44873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Traditional systems misclassify legitimate emails, disrupting business communication and eroding trust.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Limitations of Existing Systems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26394"/>
            <a:ext cx="3986733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Rule-Based Filters Fall Short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378273"/>
            <a:ext cx="3986733" cy="4954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Static keyword blacklists cannot detect novel attack patterns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contextual understanding of email content or intent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maintenance — rules must be manually updated constantly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Cannot analyze sender reputation, metadata, or attachment behaviour holistically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Zero adaptability to emerging phishing techniques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916064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E2E4E9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3010049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968154"/>
            <a:ext cx="3676204" cy="1771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Organisations relying solely on rule-based filters experience up to </a:t>
            </a:r>
            <a:r>
              <a:rPr lang="en-US" sz="5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30% higher false-positive rates</a:t>
            </a: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compared to ML-driven systems.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249"/>
            <a:ext cx="8151763" cy="4291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Proposed System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4425"/>
            <a:ext cx="8151763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end-to-end intelligent email security platform combining NLP, supervised ML, and real-time classification to protect users from spam, phishing, and malicious content.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96715"/>
            <a:ext cx="4009355" cy="14472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97770" y="1790626"/>
            <a:ext cx="205978" cy="2574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2463" y="2260699"/>
            <a:ext cx="3696667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Automated Classification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2463" y="2555007"/>
            <a:ext cx="3696667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Classify incoming emails as Spam, Phishing, or Legitimate in real time with high accuracy.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8452" y="1696715"/>
            <a:ext cx="4009430" cy="14472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0178" y="1790626"/>
            <a:ext cx="205978" cy="2574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94796" y="2260699"/>
            <a:ext cx="3696742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Continuous Learning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794796" y="2555007"/>
            <a:ext cx="3696742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Retrain models on new data to adapt to evolving threat patterns without manual intervention.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276972"/>
            <a:ext cx="4009355" cy="14472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97770" y="3370883"/>
            <a:ext cx="205978" cy="2574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2463" y="3840956"/>
            <a:ext cx="3696667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Phishing Detection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2463" y="4135264"/>
            <a:ext cx="3696667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Analyse URLs, sender domains, and content semantics to identify sophisticated phishing attempts.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8452" y="3276972"/>
            <a:ext cx="4009430" cy="14472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0178" y="3370883"/>
            <a:ext cx="205978" cy="2574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794796" y="3840956"/>
            <a:ext cx="3696742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794796" y="4135264"/>
            <a:ext cx="3696742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administrators with real-time threat reports, classification metrics, and trend visualisation.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 &amp; Email Processing Workflow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68215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Email Ingestion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518357"/>
            <a:ext cx="168510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526636"/>
            <a:ext cx="168510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pipeline processes each email through six sequential stages — from raw ingestion through intelligent classification — delivering a verdict in under 500ms for real-time protection.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96119" y="4856262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User Roles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96119" y="5002411"/>
            <a:ext cx="3989412" cy="182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End User: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View classified inbox, report false positives/negatives, manage preferences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Administrator: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Configure policies, monitor dashboards, manage model retraining, audit logs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3232" y="4856262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Non-Functional Requirements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63232" y="5002411"/>
            <a:ext cx="3989412" cy="3772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Classification latency under 500ms per email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99.9% system availability with horizontal scalability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encryption for email data in transit and at rest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GDPR-compliant data handling and audit trails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Pipeline: Collection, Preprocessing &amp; Feature Extraction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797" y="682154"/>
            <a:ext cx="6298332" cy="4340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0542" y="3382920"/>
            <a:ext cx="1721164" cy="229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47219" y="1560241"/>
            <a:ext cx="1777080" cy="229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40176" y="3916732"/>
            <a:ext cx="1721164" cy="229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7990" y="2040048"/>
            <a:ext cx="1721164" cy="229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Model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5062389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email data flows through four stages — collection, cleaning, feature extraction, and model input — producing a structured feature matrix for classification.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96119" y="5222677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NLP Techniques Applied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6119" y="5368826"/>
            <a:ext cx="3989412" cy="3772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Tokenisation &amp; Lemmatisation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normalise text for consistent feature representation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TF-IDF Vectorisation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weigh term importance across the email corpus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Named Entity Recognition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detect suspicious sender names and domains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Sentiment &amp; Urgency Analysis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flag emotionally manipulative phishing language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3232" y="5222677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Feature Categories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663232" y="5368826"/>
            <a:ext cx="3989412" cy="3772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Content Features: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Word frequency, special character ratio, link density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Header Features: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SPF/DKIM status, reply-to mismatch, hop count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URL Features: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Domain age, HTTPS presence, URL length, entropy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Behavioural Features:</a:t>
            </a: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Sending frequency, recipient count, time-of-day patterns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Machine Learning Algorithms &amp; Model Training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97843"/>
            <a:ext cx="3905696" cy="2811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947" y="1180728"/>
            <a:ext cx="3905696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Training Methodology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6947" y="1536129"/>
            <a:ext cx="3905696" cy="1915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Dataset:</a:t>
            </a: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Enron Spam Corpus + Ling-Spam + custom labelled data (500K+ emails)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Split:</a:t>
            </a: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80% training, 10% validation, 10% test — stratified sampling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Techniques:</a:t>
            </a: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Cross-validation, SMOTE for class imbalance, grid search for hyperparameters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Retraining:</a:t>
            </a: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Scheduled weekly retraining + on-demand trigger from user feedback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6947" y="3606478"/>
            <a:ext cx="3905696" cy="981224"/>
          </a:xfrm>
          <a:prstGeom prst="roundRect">
            <a:avLst>
              <a:gd name="adj" fmla="val 5973"/>
            </a:avLst>
          </a:prstGeom>
          <a:solidFill>
            <a:srgbClr val="E2E4E9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474" y="3820641"/>
            <a:ext cx="174427" cy="139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0427" y="3764905"/>
            <a:ext cx="3312691" cy="664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XGBoost Ensemble</a:t>
            </a:r>
            <a:r>
              <a:rPr lang="en-US" sz="10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achieved the highest F1-Score (97%), selected as the primary classifier for production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353"/>
            <a:ext cx="8151763" cy="366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Performance Evaluation &amp; Classification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13296"/>
            <a:ext cx="4015085" cy="387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98%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496119" y="1532186"/>
            <a:ext cx="401508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Accuracy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6119" y="1773882"/>
            <a:ext cx="4015085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correct classification rate on held-out test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32722" y="1013296"/>
            <a:ext cx="4015160" cy="387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97%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4632722" y="1532186"/>
            <a:ext cx="4015160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32722" y="1773882"/>
            <a:ext cx="4015160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 emails flagged as spam, 97% were truly malicious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198638"/>
            <a:ext cx="4015085" cy="387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96%</a:t>
            </a:r>
            <a:endParaRPr lang="en-US" sz="3050" dirty="0"/>
          </a:p>
        </p:txBody>
      </p:sp>
      <p:sp>
        <p:nvSpPr>
          <p:cNvPr id="10" name="Text 8"/>
          <p:cNvSpPr/>
          <p:nvPr/>
        </p:nvSpPr>
        <p:spPr>
          <a:xfrm>
            <a:off x="496119" y="2717527"/>
            <a:ext cx="401508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119" y="2959224"/>
            <a:ext cx="4015085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96% of actual spam emails were successfully detected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32722" y="2198638"/>
            <a:ext cx="4015160" cy="387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97%</a:t>
            </a:r>
            <a:endParaRPr lang="en-US" sz="3050" dirty="0"/>
          </a:p>
        </p:txBody>
      </p:sp>
      <p:sp>
        <p:nvSpPr>
          <p:cNvPr id="13" name="Text 11"/>
          <p:cNvSpPr/>
          <p:nvPr/>
        </p:nvSpPr>
        <p:spPr>
          <a:xfrm>
            <a:off x="4632722" y="2717527"/>
            <a:ext cx="4015160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32722" y="2959224"/>
            <a:ext cx="4015160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Harmonic mean of precision and recall — balanced performance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3337396"/>
            <a:ext cx="3932709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Spam vs. Phishing Detection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119" y="3618012"/>
            <a:ext cx="3932709" cy="1098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Spam Detection: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Bulk unsolicited content identified via TF-IDF + Bayesian scoring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Phishing Detection: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URL analysis, domain spoofing checks, and NLP urgency detection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False Positive Rate: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Below 2% — minimal disruption to legitimate communication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9935" y="3337396"/>
            <a:ext cx="3932709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Continuous Improvement Loop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9935" y="3618012"/>
            <a:ext cx="3932709" cy="9263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feedback (report spam / not spam) feeds directly into retraining pipeline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Drift detection monitors performance degradation and triggers auto-retraining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A/B testing validates new model versions before production rollout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4842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Technology Stack, Security &amp; Modules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02742"/>
            <a:ext cx="393806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369219"/>
            <a:ext cx="3938067" cy="11001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Backend: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Python, Flask/Django REST API, Celery (async tasks)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ML/NLP: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Scikit-learn, XGBoost, SpaCy, NLTK, Hugging Face Transformers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Database: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PostgreSQL (structured data), Redis (caching), Elasticsearch (search)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Frontend: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React.js, Chart.js, D3.js (analytics dashboard)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Infrastructure: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Docker, Kubernetes, AWS/GCP, Nginx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14577" y="1102742"/>
            <a:ext cx="393806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Security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4577" y="1369219"/>
            <a:ext cx="3938067" cy="937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TLS 1.3 encryption for all data in transit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AES-256 encryption for stored email metadata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Role-based access control (RBAC) for admin and user modules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SPF, DKIM, DMARC verification at ingestion layer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Immutable audit logs for compliance (GDPR, HIPAA)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2635821"/>
            <a:ext cx="8151763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System 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947318"/>
            <a:ext cx="4030861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842" y="3065041"/>
            <a:ext cx="37954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User Module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3842" y="3295501"/>
            <a:ext cx="3795415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Inbox management, classification view, feedback submission, preference settings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6946" y="2947318"/>
            <a:ext cx="4030935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4669" y="3065041"/>
            <a:ext cx="379548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Admin Module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4669" y="3295501"/>
            <a:ext cx="3795489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Policy configuration, user management, model retraining triggers, system monitoring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6119" y="3827934"/>
            <a:ext cx="4030861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842" y="3945657"/>
            <a:ext cx="37954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ML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842" y="4176117"/>
            <a:ext cx="37954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training, inference engine, drift detection, version management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6946" y="3827934"/>
            <a:ext cx="4030935" cy="790649"/>
          </a:xfrm>
          <a:prstGeom prst="roundRect">
            <a:avLst>
              <a:gd name="adj" fmla="val 60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669" y="3945657"/>
            <a:ext cx="379548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Analytics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4669" y="4176117"/>
            <a:ext cx="3795489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Threat dashboards, performance reports, trend visualisation, export capabilities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7795"/>
            <a:ext cx="4722763" cy="5814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Advantages, Applications &amp; Future Roadmap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30796"/>
            <a:ext cx="4722763" cy="9440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65761" y="1233339"/>
            <a:ext cx="4479578" cy="1453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Advantages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065761" y="1415281"/>
            <a:ext cx="4479578" cy="5569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threat detection with sub-second latency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Adaptive learning reduces manual rule maintenance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Scalable architecture supporting millions of emails/day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Data-driven decisions via comprehensive analytics</a:t>
            </a:r>
            <a:endParaRPr lang="en-US" sz="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135832"/>
            <a:ext cx="4722763" cy="9440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65761" y="2238375"/>
            <a:ext cx="4479578" cy="1453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 Applications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065761" y="2420317"/>
            <a:ext cx="4479578" cy="5569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Enterprise email gateways and corporate IT security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Cloud email providers (Gmail, Outlook integrations)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Government and financial institution communication systems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Educational institutions and healthcare portals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140869"/>
            <a:ext cx="4722763" cy="9440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65761" y="3243411"/>
            <a:ext cx="4479578" cy="1453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065761" y="3425354"/>
            <a:ext cx="4479578" cy="5569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Deep learning with BERT-based transformer models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Federated learning for privacy-preserving model training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 with SIEM platforms for unified threat intelligence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Explainable AI (XAI) for transparent classification decisions</a:t>
            </a:r>
            <a:endParaRPr lang="en-US" sz="700" dirty="0"/>
          </a:p>
        </p:txBody>
      </p:sp>
      <p:sp>
        <p:nvSpPr>
          <p:cNvPr id="13" name="Shape 7"/>
          <p:cNvSpPr/>
          <p:nvPr/>
        </p:nvSpPr>
        <p:spPr>
          <a:xfrm>
            <a:off x="3925119" y="4153570"/>
            <a:ext cx="4722763" cy="532061"/>
          </a:xfrm>
          <a:prstGeom prst="roundRect">
            <a:avLst>
              <a:gd name="adj" fmla="val 7344"/>
            </a:avLst>
          </a:prstGeom>
          <a:solidFill>
            <a:srgbClr val="B6FCB8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136" y="4274121"/>
            <a:ext cx="116235" cy="9301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27388" y="4237806"/>
            <a:ext cx="4327475" cy="3696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Expected Outcome:</a:t>
            </a:r>
            <a:r>
              <a:rPr lang="en-US" sz="7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 production-ready, ML-powered email security system achieving </a:t>
            </a:r>
            <a:r>
              <a:rPr lang="en-US" sz="7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98% classification accuracy</a:t>
            </a:r>
            <a:r>
              <a:rPr lang="en-US" sz="7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reducing phishing incidents by over </a:t>
            </a:r>
            <a:r>
              <a:rPr lang="en-US" sz="7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85%</a:t>
            </a:r>
            <a:r>
              <a:rPr lang="en-US" sz="7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providing a scalable foundation for enterprise-grade communication security.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6846</Words>
  <Application>WPS Presentation</Application>
  <PresentationFormat>On-screen Show (16:9)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Mona Sans SemiBold</vt:lpstr>
      <vt:lpstr>Mona Sans SemiBold</vt:lpstr>
      <vt:lpstr>Mona Sans SemiBold</vt:lpstr>
      <vt:lpstr>Funnel Sans</vt:lpstr>
      <vt:lpstr>Funnel Sans</vt:lpstr>
      <vt:lpstr>Funnel Sans</vt:lpstr>
      <vt:lpstr>Funnel Sans Bold</vt:lpstr>
      <vt:lpstr>Funnel Sans Bold</vt:lpstr>
      <vt:lpstr>Funnel Sans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sandeep chintalapudi</cp:lastModifiedBy>
  <cp:revision>2</cp:revision>
  <dcterms:created xsi:type="dcterms:W3CDTF">2026-07-28T05:28:00Z</dcterms:created>
  <dcterms:modified xsi:type="dcterms:W3CDTF">2026-10-06T13:53:37Z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478B864B0F2A45E9B8DEBFE68CB5A48C_12</vt:lpwstr>
  </property>
</Properties>
</file>